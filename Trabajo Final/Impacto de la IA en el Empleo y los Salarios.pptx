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Open Sauce" panose="020B0604020202020204" charset="0"/>
      <p:regular r:id="rId12"/>
    </p:embeddedFont>
    <p:embeddedFont>
      <p:font typeface="Open Sauce Bold" panose="020B0604020202020204" charset="0"/>
      <p:regular r:id="rId13"/>
    </p:embeddedFont>
    <p:embeddedFont>
      <p:font typeface="Open Sauce Italics" panose="020B0604020202020204" charset="0"/>
      <p:regular r:id="rId14"/>
    </p:embeddedFont>
    <p:embeddedFont>
      <p:font typeface="Open Sauce Light" panose="020B0604020202020204" charset="0"/>
      <p:regular r:id="rId15"/>
    </p:embeddedFont>
    <p:embeddedFont>
      <p:font typeface="Open Sauce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7786" b="778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95686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81642" y="2945579"/>
            <a:ext cx="7324716" cy="2197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sz="4167" b="1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IMPACTO DE LA IA</a:t>
            </a:r>
          </a:p>
          <a:p>
            <a:pPr algn="ctr">
              <a:lnSpc>
                <a:spcPts val="5834"/>
              </a:lnSpc>
            </a:pPr>
            <a:r>
              <a:rPr lang="en-US" sz="4167" b="1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EN EL EMPLEO Y</a:t>
            </a:r>
          </a:p>
          <a:p>
            <a:pPr algn="ctr">
              <a:lnSpc>
                <a:spcPts val="5834"/>
              </a:lnSpc>
            </a:pPr>
            <a:r>
              <a:rPr lang="en-US" sz="4167" b="1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LOS SALARIOS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00370" y="7353300"/>
            <a:ext cx="6687255" cy="114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 dirty="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CAROLINA TOBÓN BETANCUR </a:t>
            </a:r>
          </a:p>
          <a:p>
            <a:pPr algn="ctr">
              <a:lnSpc>
                <a:spcPts val="3086"/>
              </a:lnSpc>
            </a:pPr>
            <a:r>
              <a:rPr lang="en-US" sz="2204" spc="606" dirty="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JUAN ESTEBAN MARÍN MEJÍA</a:t>
            </a:r>
          </a:p>
          <a:p>
            <a:pPr algn="ctr">
              <a:lnSpc>
                <a:spcPts val="3086"/>
              </a:lnSpc>
            </a:pPr>
            <a:endParaRPr lang="en-US" sz="2204" spc="606" dirty="0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829" y="2213611"/>
            <a:ext cx="4682333" cy="2920573"/>
            <a:chOff x="0" y="0"/>
            <a:chExt cx="1233207" cy="7692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207" cy="769205"/>
            </a:xfrm>
            <a:custGeom>
              <a:avLst/>
              <a:gdLst/>
              <a:ahLst/>
              <a:cxnLst/>
              <a:rect l="l" t="t" r="r" b="b"/>
              <a:pathLst>
                <a:path w="1233207" h="769205">
                  <a:moveTo>
                    <a:pt x="52910" y="0"/>
                  </a:moveTo>
                  <a:lnTo>
                    <a:pt x="1180297" y="0"/>
                  </a:lnTo>
                  <a:cubicBezTo>
                    <a:pt x="1209518" y="0"/>
                    <a:pt x="1233207" y="23689"/>
                    <a:pt x="1233207" y="52910"/>
                  </a:cubicBezTo>
                  <a:lnTo>
                    <a:pt x="1233207" y="716295"/>
                  </a:lnTo>
                  <a:cubicBezTo>
                    <a:pt x="1233207" y="730327"/>
                    <a:pt x="1227633" y="743785"/>
                    <a:pt x="1217710" y="753708"/>
                  </a:cubicBezTo>
                  <a:cubicBezTo>
                    <a:pt x="1207787" y="763630"/>
                    <a:pt x="1194330" y="769205"/>
                    <a:pt x="1180297" y="769205"/>
                  </a:cubicBezTo>
                  <a:lnTo>
                    <a:pt x="52910" y="769205"/>
                  </a:lnTo>
                  <a:cubicBezTo>
                    <a:pt x="38877" y="769205"/>
                    <a:pt x="25419" y="763630"/>
                    <a:pt x="15497" y="753708"/>
                  </a:cubicBezTo>
                  <a:cubicBezTo>
                    <a:pt x="5574" y="743785"/>
                    <a:pt x="0" y="730327"/>
                    <a:pt x="0" y="716295"/>
                  </a:cubicBezTo>
                  <a:lnTo>
                    <a:pt x="0" y="52910"/>
                  </a:lnTo>
                  <a:cubicBezTo>
                    <a:pt x="0" y="38877"/>
                    <a:pt x="5574" y="25419"/>
                    <a:pt x="15497" y="15497"/>
                  </a:cubicBezTo>
                  <a:cubicBezTo>
                    <a:pt x="25419" y="5574"/>
                    <a:pt x="38877" y="0"/>
                    <a:pt x="52910" y="0"/>
                  </a:cubicBezTo>
                  <a:close/>
                </a:path>
              </a:pathLst>
            </a:custGeom>
            <a:solidFill>
              <a:srgbClr val="09285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3320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5728" y="2977852"/>
            <a:ext cx="4031529" cy="1544918"/>
            <a:chOff x="0" y="0"/>
            <a:chExt cx="5375372" cy="2059891"/>
          </a:xfrm>
        </p:grpSpPr>
        <p:sp>
          <p:nvSpPr>
            <p:cNvPr id="6" name="TextBox 6"/>
            <p:cNvSpPr txBox="1"/>
            <p:nvPr/>
          </p:nvSpPr>
          <p:spPr>
            <a:xfrm>
              <a:off x="0" y="-123825"/>
              <a:ext cx="5375372" cy="1418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959"/>
                </a:lnSpc>
              </a:pPr>
              <a:r>
                <a:rPr lang="en-US" sz="6399" b="1" spc="1759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12.343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95190"/>
              <a:ext cx="5375372" cy="36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b="1" spc="46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REGISTROS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3331" y="2196053"/>
            <a:ext cx="4682333" cy="2920573"/>
            <a:chOff x="0" y="0"/>
            <a:chExt cx="1233207" cy="7692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3207" cy="769205"/>
            </a:xfrm>
            <a:custGeom>
              <a:avLst/>
              <a:gdLst/>
              <a:ahLst/>
              <a:cxnLst/>
              <a:rect l="l" t="t" r="r" b="b"/>
              <a:pathLst>
                <a:path w="1233207" h="769205">
                  <a:moveTo>
                    <a:pt x="52910" y="0"/>
                  </a:moveTo>
                  <a:lnTo>
                    <a:pt x="1180297" y="0"/>
                  </a:lnTo>
                  <a:cubicBezTo>
                    <a:pt x="1209518" y="0"/>
                    <a:pt x="1233207" y="23689"/>
                    <a:pt x="1233207" y="52910"/>
                  </a:cubicBezTo>
                  <a:lnTo>
                    <a:pt x="1233207" y="716295"/>
                  </a:lnTo>
                  <a:cubicBezTo>
                    <a:pt x="1233207" y="730327"/>
                    <a:pt x="1227633" y="743785"/>
                    <a:pt x="1217710" y="753708"/>
                  </a:cubicBezTo>
                  <a:cubicBezTo>
                    <a:pt x="1207787" y="763630"/>
                    <a:pt x="1194330" y="769205"/>
                    <a:pt x="1180297" y="769205"/>
                  </a:cubicBezTo>
                  <a:lnTo>
                    <a:pt x="52910" y="769205"/>
                  </a:lnTo>
                  <a:cubicBezTo>
                    <a:pt x="38877" y="769205"/>
                    <a:pt x="25419" y="763630"/>
                    <a:pt x="15497" y="753708"/>
                  </a:cubicBezTo>
                  <a:cubicBezTo>
                    <a:pt x="5574" y="743785"/>
                    <a:pt x="0" y="730327"/>
                    <a:pt x="0" y="716295"/>
                  </a:cubicBezTo>
                  <a:lnTo>
                    <a:pt x="0" y="52910"/>
                  </a:lnTo>
                  <a:cubicBezTo>
                    <a:pt x="0" y="38877"/>
                    <a:pt x="5574" y="25419"/>
                    <a:pt x="15497" y="15497"/>
                  </a:cubicBezTo>
                  <a:cubicBezTo>
                    <a:pt x="25419" y="5574"/>
                    <a:pt x="38877" y="0"/>
                    <a:pt x="52910" y="0"/>
                  </a:cubicBezTo>
                  <a:close/>
                </a:path>
              </a:pathLst>
            </a:custGeom>
            <a:solidFill>
              <a:srgbClr val="09285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3320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1342" y="2182615"/>
            <a:ext cx="4683327" cy="2947447"/>
            <a:chOff x="0" y="0"/>
            <a:chExt cx="2303335" cy="14496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3336" cy="1449602"/>
            </a:xfrm>
            <a:custGeom>
              <a:avLst/>
              <a:gdLst/>
              <a:ahLst/>
              <a:cxnLst/>
              <a:rect l="l" t="t" r="r" b="b"/>
              <a:pathLst>
                <a:path w="2303336" h="1449602">
                  <a:moveTo>
                    <a:pt x="2178875" y="1449602"/>
                  </a:moveTo>
                  <a:lnTo>
                    <a:pt x="124460" y="1449602"/>
                  </a:lnTo>
                  <a:cubicBezTo>
                    <a:pt x="55880" y="1449602"/>
                    <a:pt x="0" y="1393722"/>
                    <a:pt x="0" y="13251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78876" y="0"/>
                  </a:lnTo>
                  <a:cubicBezTo>
                    <a:pt x="2247455" y="0"/>
                    <a:pt x="2303336" y="55880"/>
                    <a:pt x="2303336" y="124460"/>
                  </a:cubicBezTo>
                  <a:lnTo>
                    <a:pt x="2303336" y="1325142"/>
                  </a:lnTo>
                  <a:cubicBezTo>
                    <a:pt x="2303336" y="1393722"/>
                    <a:pt x="2247455" y="1449602"/>
                    <a:pt x="2178876" y="1449602"/>
                  </a:cubicBezTo>
                  <a:close/>
                </a:path>
              </a:pathLst>
            </a:custGeom>
            <a:solidFill>
              <a:srgbClr val="FFBC04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28236" y="2854027"/>
            <a:ext cx="4031529" cy="10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spc="1759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8236" y="4242101"/>
            <a:ext cx="403152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VARIABLES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884844" y="2196053"/>
            <a:ext cx="4683327" cy="2947447"/>
            <a:chOff x="0" y="0"/>
            <a:chExt cx="2303335" cy="14496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03336" cy="1449602"/>
            </a:xfrm>
            <a:custGeom>
              <a:avLst/>
              <a:gdLst/>
              <a:ahLst/>
              <a:cxnLst/>
              <a:rect l="l" t="t" r="r" b="b"/>
              <a:pathLst>
                <a:path w="2303336" h="1449602">
                  <a:moveTo>
                    <a:pt x="2178875" y="1449602"/>
                  </a:moveTo>
                  <a:lnTo>
                    <a:pt x="124460" y="1449602"/>
                  </a:lnTo>
                  <a:cubicBezTo>
                    <a:pt x="55880" y="1449602"/>
                    <a:pt x="0" y="1393722"/>
                    <a:pt x="0" y="13251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78876" y="0"/>
                  </a:lnTo>
                  <a:cubicBezTo>
                    <a:pt x="2247455" y="0"/>
                    <a:pt x="2303336" y="55880"/>
                    <a:pt x="2303336" y="124460"/>
                  </a:cubicBezTo>
                  <a:lnTo>
                    <a:pt x="2303336" y="1325142"/>
                  </a:lnTo>
                  <a:cubicBezTo>
                    <a:pt x="2303336" y="1393722"/>
                    <a:pt x="2247455" y="1449602"/>
                    <a:pt x="2178876" y="1449602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210743" y="2854027"/>
            <a:ext cx="4031529" cy="10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spc="1759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10743" y="4242101"/>
            <a:ext cx="403152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NULOS Y DUPLICADOS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061492" y="5877134"/>
            <a:ext cx="5574002" cy="989554"/>
            <a:chOff x="0" y="0"/>
            <a:chExt cx="1468050" cy="2606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8050" cy="260623"/>
            </a:xfrm>
            <a:custGeom>
              <a:avLst/>
              <a:gdLst/>
              <a:ahLst/>
              <a:cxnLst/>
              <a:rect l="l" t="t" r="r" b="b"/>
              <a:pathLst>
                <a:path w="1468050" h="260623">
                  <a:moveTo>
                    <a:pt x="0" y="0"/>
                  </a:moveTo>
                  <a:lnTo>
                    <a:pt x="1468050" y="0"/>
                  </a:lnTo>
                  <a:lnTo>
                    <a:pt x="1468050" y="260623"/>
                  </a:lnTo>
                  <a:lnTo>
                    <a:pt x="0" y="260623"/>
                  </a:lnTo>
                  <a:close/>
                </a:path>
              </a:pathLst>
            </a:custGeom>
            <a:solidFill>
              <a:srgbClr val="545454">
                <a:alpha val="75686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68050" cy="298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495">
                  <a:solidFill>
                    <a:srgbClr val="FFFFFF">
                      <a:alpha val="75686"/>
                    </a:srgbClr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VARIABLES NUMÉRICAS 6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30120" y="5877134"/>
            <a:ext cx="5574002" cy="989554"/>
            <a:chOff x="0" y="0"/>
            <a:chExt cx="1468050" cy="2606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8050" cy="260623"/>
            </a:xfrm>
            <a:custGeom>
              <a:avLst/>
              <a:gdLst/>
              <a:ahLst/>
              <a:cxnLst/>
              <a:rect l="l" t="t" r="r" b="b"/>
              <a:pathLst>
                <a:path w="1468050" h="260623">
                  <a:moveTo>
                    <a:pt x="0" y="0"/>
                  </a:moveTo>
                  <a:lnTo>
                    <a:pt x="1468050" y="0"/>
                  </a:lnTo>
                  <a:lnTo>
                    <a:pt x="1468050" y="260623"/>
                  </a:lnTo>
                  <a:lnTo>
                    <a:pt x="0" y="260623"/>
                  </a:lnTo>
                  <a:close/>
                </a:path>
              </a:pathLst>
            </a:custGeom>
            <a:solidFill>
              <a:srgbClr val="545454">
                <a:alpha val="72941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68050" cy="298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495">
                  <a:solidFill>
                    <a:srgbClr val="FFFFFF">
                      <a:alpha val="72941"/>
                    </a:srgbClr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VARIABLES CATEGÓRICAS 7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28700" y="952500"/>
            <a:ext cx="11127984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 spc="101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DATASET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4315" y="7514388"/>
            <a:ext cx="16723855" cy="100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2709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inicial:</a:t>
            </a:r>
            <a:r>
              <a:rPr lang="en-US" sz="270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sin valores nulos ni registros duplicados. Los nombres de columnas fueron cambiados al español para facilitar la interpretación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2072" y="9229725"/>
            <a:ext cx="1672385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VARIABLE OBJETIVO: NIVEL_RIESGO_IA → LOW RISK · MEDIUM RISK · HIGH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067801" y="2159177"/>
            <a:ext cx="57150" cy="72810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669375" y="2213390"/>
            <a:ext cx="8007900" cy="4244187"/>
          </a:xfrm>
          <a:custGeom>
            <a:avLst/>
            <a:gdLst/>
            <a:ahLst/>
            <a:cxnLst/>
            <a:rect l="l" t="t" r="r" b="b"/>
            <a:pathLst>
              <a:path w="8007900" h="4244187">
                <a:moveTo>
                  <a:pt x="0" y="0"/>
                </a:moveTo>
                <a:lnTo>
                  <a:pt x="8007900" y="0"/>
                </a:lnTo>
                <a:lnTo>
                  <a:pt x="8007900" y="4244187"/>
                </a:lnTo>
                <a:lnTo>
                  <a:pt x="0" y="4244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" r="-8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9950536" y="1861738"/>
            <a:ext cx="7308764" cy="5399349"/>
          </a:xfrm>
          <a:custGeom>
            <a:avLst/>
            <a:gdLst/>
            <a:ahLst/>
            <a:cxnLst/>
            <a:rect l="l" t="t" r="r" b="b"/>
            <a:pathLst>
              <a:path w="7308764" h="5399349">
                <a:moveTo>
                  <a:pt x="0" y="0"/>
                </a:moveTo>
                <a:lnTo>
                  <a:pt x="7308764" y="0"/>
                </a:lnTo>
                <a:lnTo>
                  <a:pt x="7308764" y="5399349"/>
                </a:lnTo>
                <a:lnTo>
                  <a:pt x="0" y="5399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" r="-38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" name="Group 5"/>
          <p:cNvGrpSpPr/>
          <p:nvPr/>
        </p:nvGrpSpPr>
        <p:grpSpPr>
          <a:xfrm>
            <a:off x="10293346" y="7319786"/>
            <a:ext cx="1166252" cy="366040"/>
            <a:chOff x="0" y="0"/>
            <a:chExt cx="307161" cy="964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7161" cy="96405"/>
            </a:xfrm>
            <a:custGeom>
              <a:avLst/>
              <a:gdLst/>
              <a:ahLst/>
              <a:cxnLst/>
              <a:rect l="l" t="t" r="r" b="b"/>
              <a:pathLst>
                <a:path w="307161" h="96405">
                  <a:moveTo>
                    <a:pt x="0" y="0"/>
                  </a:moveTo>
                  <a:lnTo>
                    <a:pt x="307161" y="0"/>
                  </a:lnTo>
                  <a:lnTo>
                    <a:pt x="307161" y="96405"/>
                  </a:lnTo>
                  <a:lnTo>
                    <a:pt x="0" y="96405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7161" cy="12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1960"/>
                </a:lnSpc>
              </a:pPr>
              <a:r>
                <a:rPr lang="en-US" sz="1400" b="1" spc="385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0.65 ↑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EDA - DISTRIBUCION DE VARIABLES NUMERICAS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9375" y="7291211"/>
            <a:ext cx="453438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HISTOGRAMA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9375" y="7785127"/>
            <a:ext cx="8231730" cy="127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Ninguna variable sigue distribución normal (test Kolmogorov-Smirnov, p &lt; 0.05). Se confirma sesgo en salario y riesgo de IA. Por esto se usa correlación de Spearman en el análisis.</a:t>
            </a:r>
          </a:p>
          <a:p>
            <a:pPr algn="l">
              <a:lnSpc>
                <a:spcPts val="2624"/>
              </a:lnSpc>
            </a:pPr>
            <a:endParaRPr lang="en-US" sz="1726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19252" y="7328336"/>
            <a:ext cx="5410958" cy="3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Salario vs Estabilidad — Relación positiva fuerte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19252" y="7785084"/>
            <a:ext cx="5740048" cy="3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Riesgo IA vs Estabilidad — Relación negativa fuerte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19252" y="8238799"/>
            <a:ext cx="5740048" cy="3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Demanda habilidad vs Estabilidad — Moderada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19252" y="8692513"/>
            <a:ext cx="5740048" cy="3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Educación vs Estabilidad — Sin relación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316201" y="7790600"/>
            <a:ext cx="1143397" cy="366040"/>
            <a:chOff x="0" y="0"/>
            <a:chExt cx="301142" cy="964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1142" cy="96405"/>
            </a:xfrm>
            <a:custGeom>
              <a:avLst/>
              <a:gdLst/>
              <a:ahLst/>
              <a:cxnLst/>
              <a:rect l="l" t="t" r="r" b="b"/>
              <a:pathLst>
                <a:path w="301142" h="96405">
                  <a:moveTo>
                    <a:pt x="0" y="0"/>
                  </a:moveTo>
                  <a:lnTo>
                    <a:pt x="301142" y="0"/>
                  </a:lnTo>
                  <a:lnTo>
                    <a:pt x="301142" y="96405"/>
                  </a:lnTo>
                  <a:lnTo>
                    <a:pt x="0" y="96405"/>
                  </a:lnTo>
                  <a:close/>
                </a:path>
              </a:pathLst>
            </a:custGeom>
            <a:solidFill>
              <a:srgbClr val="F84B25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01142" cy="12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 spc="385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-0.60 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316201" y="8261415"/>
            <a:ext cx="1143397" cy="366040"/>
            <a:chOff x="0" y="0"/>
            <a:chExt cx="301142" cy="964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1142" cy="96405"/>
            </a:xfrm>
            <a:custGeom>
              <a:avLst/>
              <a:gdLst/>
              <a:ahLst/>
              <a:cxnLst/>
              <a:rect l="l" t="t" r="r" b="b"/>
              <a:pathLst>
                <a:path w="301142" h="96405">
                  <a:moveTo>
                    <a:pt x="0" y="0"/>
                  </a:moveTo>
                  <a:lnTo>
                    <a:pt x="301142" y="0"/>
                  </a:lnTo>
                  <a:lnTo>
                    <a:pt x="301142" y="96405"/>
                  </a:lnTo>
                  <a:lnTo>
                    <a:pt x="0" y="96405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01142" cy="12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 spc="385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0.27↑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16201" y="8732229"/>
            <a:ext cx="1143397" cy="366040"/>
            <a:chOff x="0" y="0"/>
            <a:chExt cx="301142" cy="964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142" cy="96405"/>
            </a:xfrm>
            <a:custGeom>
              <a:avLst/>
              <a:gdLst/>
              <a:ahLst/>
              <a:cxnLst/>
              <a:rect l="l" t="t" r="r" b="b"/>
              <a:pathLst>
                <a:path w="301142" h="96405">
                  <a:moveTo>
                    <a:pt x="0" y="0"/>
                  </a:moveTo>
                  <a:lnTo>
                    <a:pt x="301142" y="0"/>
                  </a:lnTo>
                  <a:lnTo>
                    <a:pt x="301142" y="96405"/>
                  </a:lnTo>
                  <a:lnTo>
                    <a:pt x="0" y="9640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301142" cy="12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 spc="385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0.006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40472" y="9716607"/>
            <a:ext cx="17407057" cy="3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726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Conclusión</a:t>
            </a:r>
            <a:r>
              <a:rPr lang="en-US" sz="1726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el mercado laboral está determinado principalmente por salario, estabilidad y nivel de exposición a la automatización, no por la cantidad de vacantes.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768" y="2481281"/>
            <a:ext cx="10589092" cy="6777019"/>
          </a:xfrm>
          <a:custGeom>
            <a:avLst/>
            <a:gdLst/>
            <a:ahLst/>
            <a:cxnLst/>
            <a:rect l="l" t="t" r="r" b="b"/>
            <a:pathLst>
              <a:path w="10589092" h="6777019">
                <a:moveTo>
                  <a:pt x="0" y="0"/>
                </a:moveTo>
                <a:lnTo>
                  <a:pt x="10589092" y="0"/>
                </a:lnTo>
                <a:lnTo>
                  <a:pt x="10589092" y="6777019"/>
                </a:lnTo>
                <a:lnTo>
                  <a:pt x="0" y="6777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EDA - DISTRIBUCION DE VARIABLES CATEGORICAS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6898" y="3358146"/>
            <a:ext cx="6704438" cy="527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 b="1" dirty="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Riesgo IA: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predomina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Medium Risk (~49%)</a:t>
            </a: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 b="1" dirty="0" err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Experiencia</a:t>
            </a:r>
            <a:r>
              <a:rPr lang="en-US" sz="2567" b="1" dirty="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</a:t>
            </a:r>
            <a:r>
              <a:rPr lang="en-US" sz="2567" b="1" dirty="0" err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educación</a:t>
            </a:r>
            <a:r>
              <a:rPr lang="en-US" sz="2567" b="1" dirty="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distribuciones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equilibradas</a:t>
            </a:r>
            <a:endParaRPr lang="en-US" sz="2567" dirty="0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 b="1" dirty="0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Salario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fuerte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predominio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67" dirty="0" err="1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nivel</a:t>
            </a:r>
            <a:r>
              <a:rPr lang="en-US" sz="2567" dirty="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High (~78%)</a:t>
            </a:r>
          </a:p>
          <a:p>
            <a:pPr algn="l">
              <a:lnSpc>
                <a:spcPts val="3902"/>
              </a:lnSpc>
            </a:pPr>
            <a:endParaRPr lang="en-US" sz="2567" dirty="0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598"/>
              </a:lnSpc>
            </a:pP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Predomina</a:t>
            </a:r>
            <a:r>
              <a:rPr lang="en-US" sz="2367" i="1" dirty="0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riesgo</a:t>
            </a:r>
            <a:r>
              <a:rPr lang="en-US" sz="2367" i="1" dirty="0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medio y </a:t>
            </a: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salarios</a:t>
            </a:r>
            <a:r>
              <a:rPr lang="en-US" sz="2367" i="1" dirty="0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altos, con variables de </a:t>
            </a: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experiencia</a:t>
            </a:r>
            <a:r>
              <a:rPr lang="en-US" sz="2367" i="1" dirty="0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y </a:t>
            </a: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educación</a:t>
            </a:r>
            <a:r>
              <a:rPr lang="en-US" sz="2367" i="1" dirty="0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367" i="1" dirty="0" err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balanceadas</a:t>
            </a:r>
            <a:endParaRPr lang="en-US" sz="2367" i="1" dirty="0">
              <a:solidFill>
                <a:srgbClr val="092852"/>
              </a:solidFill>
              <a:latin typeface="Open Sauce Italics"/>
              <a:ea typeface="Open Sauce Italics"/>
              <a:cs typeface="Open Sauce Italics"/>
              <a:sym typeface="Open Sauce Italics"/>
            </a:endParaRPr>
          </a:p>
          <a:p>
            <a:pPr algn="l">
              <a:lnSpc>
                <a:spcPts val="3902"/>
              </a:lnSpc>
            </a:pPr>
            <a:endParaRPr lang="en-US" sz="2367" i="1" dirty="0">
              <a:solidFill>
                <a:srgbClr val="092852"/>
              </a:solidFill>
              <a:latin typeface="Open Sauce Italics"/>
              <a:ea typeface="Open Sauce Italics"/>
              <a:cs typeface="Open Sauce Italics"/>
              <a:sym typeface="Open Sauce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7023" y="2002013"/>
            <a:ext cx="8641991" cy="3932331"/>
            <a:chOff x="0" y="0"/>
            <a:chExt cx="2276080" cy="10356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VARIABLES CONSTRUIDAS — FEATURE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3714" y="2100160"/>
            <a:ext cx="8326381" cy="3934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nivel_laboral: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 =exp_num + edu_num ⟶ rango [3,7]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1800A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Índice de perfil profesional. Combina experiencia (Entry=1, Mid=2, Senior=3) y educación (HS=1, Bach=2, Master=3, PhD=4). 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AutoShape 7"/>
          <p:cNvSpPr/>
          <p:nvPr/>
        </p:nvSpPr>
        <p:spPr>
          <a:xfrm flipV="1">
            <a:off x="694185" y="2002013"/>
            <a:ext cx="0" cy="3932331"/>
          </a:xfrm>
          <a:prstGeom prst="line">
            <a:avLst/>
          </a:prstGeom>
          <a:ln w="31432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>
            <a:off x="9469941" y="2002013"/>
            <a:ext cx="8641991" cy="3932331"/>
            <a:chOff x="0" y="0"/>
            <a:chExt cx="2276080" cy="10356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96632" y="2100160"/>
            <a:ext cx="8326381" cy="343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ratio_eficiencia: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   = salario_usd / vacantes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1800A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Ratio de exclusividad salarial. Ratio alto = pocas vacantes bien remuneradas (roles especializados). Ratio bajo = muchas vacantes con salarios relativamente bajos (roles masivos)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9627104" y="2002013"/>
            <a:ext cx="0" cy="3932331"/>
          </a:xfrm>
          <a:prstGeom prst="line">
            <a:avLst/>
          </a:prstGeom>
          <a:ln w="314325" cap="flat">
            <a:solidFill>
              <a:srgbClr val="FFBC0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13" name="Group 13"/>
          <p:cNvGrpSpPr/>
          <p:nvPr/>
        </p:nvGrpSpPr>
        <p:grpSpPr>
          <a:xfrm>
            <a:off x="4717464" y="6167757"/>
            <a:ext cx="8641991" cy="3932331"/>
            <a:chOff x="0" y="0"/>
            <a:chExt cx="2276080" cy="10356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44155" y="6265904"/>
            <a:ext cx="8115300" cy="442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indice_vulnerabilidad: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= 0.6 × riesgo_norm + 0.4 × (1 − nivel_norm)→ [0, 1]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1800A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Índice ponderado: 60% al riesgo de IA normalizado + 40% al bajo nivel laboral. Valor cercano a 1 = alta vulnerabilidad. Valor cercano a 0 = baja vulnerabilidad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AutoShape 17"/>
          <p:cNvSpPr/>
          <p:nvPr/>
        </p:nvSpPr>
        <p:spPr>
          <a:xfrm flipH="1" flipV="1">
            <a:off x="4874626" y="6167757"/>
            <a:ext cx="0" cy="3932331"/>
          </a:xfrm>
          <a:prstGeom prst="line">
            <a:avLst/>
          </a:prstGeom>
          <a:ln w="3143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6238" y="2354609"/>
            <a:ext cx="16650134" cy="1981298"/>
            <a:chOff x="0" y="0"/>
            <a:chExt cx="4385221" cy="521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5221" cy="521823"/>
            </a:xfrm>
            <a:custGeom>
              <a:avLst/>
              <a:gdLst/>
              <a:ahLst/>
              <a:cxnLst/>
              <a:rect l="l" t="t" r="r" b="b"/>
              <a:pathLst>
                <a:path w="4385221" h="521823">
                  <a:moveTo>
                    <a:pt x="0" y="0"/>
                  </a:moveTo>
                  <a:lnTo>
                    <a:pt x="4385221" y="0"/>
                  </a:lnTo>
                  <a:lnTo>
                    <a:pt x="4385221" y="521823"/>
                  </a:lnTo>
                  <a:lnTo>
                    <a:pt x="0" y="52182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85221" cy="55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89273" y="2452756"/>
            <a:ext cx="16042063" cy="244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OrdinalEncoder ( nivel_riesgo_ia  -  nivel_salario)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 Low → 0 ·Medium → 1 · High → 2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Misma lógica: orden natural claro, se preserva la jerarquía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AutoShape 6"/>
          <p:cNvSpPr/>
          <p:nvPr/>
        </p:nvSpPr>
        <p:spPr>
          <a:xfrm flipH="1" flipV="1">
            <a:off x="806238" y="2354609"/>
            <a:ext cx="0" cy="1981298"/>
          </a:xfrm>
          <a:prstGeom prst="line">
            <a:avLst/>
          </a:prstGeom>
          <a:ln w="31432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7" name="Group 7"/>
          <p:cNvGrpSpPr/>
          <p:nvPr/>
        </p:nvGrpSpPr>
        <p:grpSpPr>
          <a:xfrm>
            <a:off x="806238" y="4793107"/>
            <a:ext cx="16650134" cy="1981298"/>
            <a:chOff x="0" y="0"/>
            <a:chExt cx="4385221" cy="5218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5221" cy="521823"/>
            </a:xfrm>
            <a:custGeom>
              <a:avLst/>
              <a:gdLst/>
              <a:ahLst/>
              <a:cxnLst/>
              <a:rect l="l" t="t" r="r" b="b"/>
              <a:pathLst>
                <a:path w="4385221" h="521823">
                  <a:moveTo>
                    <a:pt x="0" y="0"/>
                  </a:moveTo>
                  <a:lnTo>
                    <a:pt x="4385221" y="0"/>
                  </a:lnTo>
                  <a:lnTo>
                    <a:pt x="4385221" y="521823"/>
                  </a:lnTo>
                  <a:lnTo>
                    <a:pt x="0" y="52182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385221" cy="55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89273" y="4891254"/>
            <a:ext cx="16042063" cy="244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OneHotEncoder (nominales)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Pais (6), puesto_trabajo (10), habilidad_principal (9) — variables nominales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AutoShape 11"/>
          <p:cNvSpPr/>
          <p:nvPr/>
        </p:nvSpPr>
        <p:spPr>
          <a:xfrm flipH="1" flipV="1">
            <a:off x="806238" y="4793107"/>
            <a:ext cx="0" cy="1981298"/>
          </a:xfrm>
          <a:prstGeom prst="line">
            <a:avLst/>
          </a:prstGeom>
          <a:ln w="314325" cap="flat">
            <a:solidFill>
              <a:srgbClr val="FFBC0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12" name="Group 12"/>
          <p:cNvGrpSpPr/>
          <p:nvPr/>
        </p:nvGrpSpPr>
        <p:grpSpPr>
          <a:xfrm>
            <a:off x="806238" y="7231605"/>
            <a:ext cx="16650134" cy="1981298"/>
            <a:chOff x="0" y="0"/>
            <a:chExt cx="4385221" cy="5218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85221" cy="521823"/>
            </a:xfrm>
            <a:custGeom>
              <a:avLst/>
              <a:gdLst/>
              <a:ahLst/>
              <a:cxnLst/>
              <a:rect l="l" t="t" r="r" b="b"/>
              <a:pathLst>
                <a:path w="4385221" h="521823">
                  <a:moveTo>
                    <a:pt x="0" y="0"/>
                  </a:moveTo>
                  <a:lnTo>
                    <a:pt x="4385221" y="0"/>
                  </a:lnTo>
                  <a:lnTo>
                    <a:pt x="4385221" y="521823"/>
                  </a:lnTo>
                  <a:lnTo>
                    <a:pt x="0" y="52182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385221" cy="55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H="1" flipV="1">
            <a:off x="806238" y="7231605"/>
            <a:ext cx="0" cy="1981298"/>
          </a:xfrm>
          <a:prstGeom prst="line">
            <a:avLst/>
          </a:prstGeom>
          <a:ln w="3143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Box 16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PREPROCESAMIENTO — CODIFICACIÓN Y ESCALADO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9273" y="7329752"/>
            <a:ext cx="16042063" cy="244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5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RobustScaler — Escalado de Variables Numéricas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8D8989"/>
                </a:solidFill>
                <a:latin typeface="Open Sauce"/>
                <a:ea typeface="Open Sauce"/>
                <a:cs typeface="Open Sauce"/>
                <a:sym typeface="Open Sauce"/>
              </a:rPr>
              <a:t>Usa mediana y rango intercuartil → robusto frente a outliers identificados en EDA. 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8D898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829" y="2613220"/>
            <a:ext cx="4682333" cy="2920573"/>
            <a:chOff x="0" y="0"/>
            <a:chExt cx="1233207" cy="7692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207" cy="769205"/>
            </a:xfrm>
            <a:custGeom>
              <a:avLst/>
              <a:gdLst/>
              <a:ahLst/>
              <a:cxnLst/>
              <a:rect l="l" t="t" r="r" b="b"/>
              <a:pathLst>
                <a:path w="1233207" h="769205">
                  <a:moveTo>
                    <a:pt x="52910" y="0"/>
                  </a:moveTo>
                  <a:lnTo>
                    <a:pt x="1180297" y="0"/>
                  </a:lnTo>
                  <a:cubicBezTo>
                    <a:pt x="1209518" y="0"/>
                    <a:pt x="1233207" y="23689"/>
                    <a:pt x="1233207" y="52910"/>
                  </a:cubicBezTo>
                  <a:lnTo>
                    <a:pt x="1233207" y="716295"/>
                  </a:lnTo>
                  <a:cubicBezTo>
                    <a:pt x="1233207" y="730327"/>
                    <a:pt x="1227633" y="743785"/>
                    <a:pt x="1217710" y="753708"/>
                  </a:cubicBezTo>
                  <a:cubicBezTo>
                    <a:pt x="1207787" y="763630"/>
                    <a:pt x="1194330" y="769205"/>
                    <a:pt x="1180297" y="769205"/>
                  </a:cubicBezTo>
                  <a:lnTo>
                    <a:pt x="52910" y="769205"/>
                  </a:lnTo>
                  <a:cubicBezTo>
                    <a:pt x="38877" y="769205"/>
                    <a:pt x="25419" y="763630"/>
                    <a:pt x="15497" y="753708"/>
                  </a:cubicBezTo>
                  <a:cubicBezTo>
                    <a:pt x="5574" y="743785"/>
                    <a:pt x="0" y="730327"/>
                    <a:pt x="0" y="716295"/>
                  </a:cubicBezTo>
                  <a:lnTo>
                    <a:pt x="0" y="52910"/>
                  </a:lnTo>
                  <a:cubicBezTo>
                    <a:pt x="0" y="38877"/>
                    <a:pt x="5574" y="25419"/>
                    <a:pt x="15497" y="15497"/>
                  </a:cubicBezTo>
                  <a:cubicBezTo>
                    <a:pt x="25419" y="5574"/>
                    <a:pt x="38877" y="0"/>
                    <a:pt x="52910" y="0"/>
                  </a:cubicBezTo>
                  <a:close/>
                </a:path>
              </a:pathLst>
            </a:custGeom>
            <a:solidFill>
              <a:srgbClr val="09285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3320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5728" y="3377461"/>
            <a:ext cx="4031529" cy="1544918"/>
            <a:chOff x="0" y="0"/>
            <a:chExt cx="5375372" cy="2059891"/>
          </a:xfrm>
        </p:grpSpPr>
        <p:sp>
          <p:nvSpPr>
            <p:cNvPr id="6" name="TextBox 6"/>
            <p:cNvSpPr txBox="1"/>
            <p:nvPr/>
          </p:nvSpPr>
          <p:spPr>
            <a:xfrm>
              <a:off x="0" y="-123825"/>
              <a:ext cx="5375372" cy="1418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959"/>
                </a:lnSpc>
              </a:pPr>
              <a:r>
                <a:rPr lang="en-US" sz="6399" b="1" spc="1759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29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95190"/>
              <a:ext cx="5375372" cy="36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b="1" spc="46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VARIABLES ORIGINALES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3331" y="2595663"/>
            <a:ext cx="4682333" cy="2920573"/>
            <a:chOff x="0" y="0"/>
            <a:chExt cx="1233207" cy="7692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3207" cy="769205"/>
            </a:xfrm>
            <a:custGeom>
              <a:avLst/>
              <a:gdLst/>
              <a:ahLst/>
              <a:cxnLst/>
              <a:rect l="l" t="t" r="r" b="b"/>
              <a:pathLst>
                <a:path w="1233207" h="769205">
                  <a:moveTo>
                    <a:pt x="52910" y="0"/>
                  </a:moveTo>
                  <a:lnTo>
                    <a:pt x="1180297" y="0"/>
                  </a:lnTo>
                  <a:cubicBezTo>
                    <a:pt x="1209518" y="0"/>
                    <a:pt x="1233207" y="23689"/>
                    <a:pt x="1233207" y="52910"/>
                  </a:cubicBezTo>
                  <a:lnTo>
                    <a:pt x="1233207" y="716295"/>
                  </a:lnTo>
                  <a:cubicBezTo>
                    <a:pt x="1233207" y="730327"/>
                    <a:pt x="1227633" y="743785"/>
                    <a:pt x="1217710" y="753708"/>
                  </a:cubicBezTo>
                  <a:cubicBezTo>
                    <a:pt x="1207787" y="763630"/>
                    <a:pt x="1194330" y="769205"/>
                    <a:pt x="1180297" y="769205"/>
                  </a:cubicBezTo>
                  <a:lnTo>
                    <a:pt x="52910" y="769205"/>
                  </a:lnTo>
                  <a:cubicBezTo>
                    <a:pt x="38877" y="769205"/>
                    <a:pt x="25419" y="763630"/>
                    <a:pt x="15497" y="753708"/>
                  </a:cubicBezTo>
                  <a:cubicBezTo>
                    <a:pt x="5574" y="743785"/>
                    <a:pt x="0" y="730327"/>
                    <a:pt x="0" y="716295"/>
                  </a:cubicBezTo>
                  <a:lnTo>
                    <a:pt x="0" y="52910"/>
                  </a:lnTo>
                  <a:cubicBezTo>
                    <a:pt x="0" y="38877"/>
                    <a:pt x="5574" y="25419"/>
                    <a:pt x="15497" y="15497"/>
                  </a:cubicBezTo>
                  <a:cubicBezTo>
                    <a:pt x="25419" y="5574"/>
                    <a:pt x="38877" y="0"/>
                    <a:pt x="52910" y="0"/>
                  </a:cubicBezTo>
                  <a:close/>
                </a:path>
              </a:pathLst>
            </a:custGeom>
            <a:solidFill>
              <a:srgbClr val="09285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3320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2337" y="2595663"/>
            <a:ext cx="4683327" cy="2947447"/>
            <a:chOff x="0" y="0"/>
            <a:chExt cx="2303335" cy="14496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3336" cy="1449602"/>
            </a:xfrm>
            <a:custGeom>
              <a:avLst/>
              <a:gdLst/>
              <a:ahLst/>
              <a:cxnLst/>
              <a:rect l="l" t="t" r="r" b="b"/>
              <a:pathLst>
                <a:path w="2303336" h="1449602">
                  <a:moveTo>
                    <a:pt x="2178875" y="1449602"/>
                  </a:moveTo>
                  <a:lnTo>
                    <a:pt x="124460" y="1449602"/>
                  </a:lnTo>
                  <a:cubicBezTo>
                    <a:pt x="55880" y="1449602"/>
                    <a:pt x="0" y="1393722"/>
                    <a:pt x="0" y="13251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78876" y="0"/>
                  </a:lnTo>
                  <a:cubicBezTo>
                    <a:pt x="2247455" y="0"/>
                    <a:pt x="2303336" y="55880"/>
                    <a:pt x="2303336" y="124460"/>
                  </a:cubicBezTo>
                  <a:lnTo>
                    <a:pt x="2303336" y="1325142"/>
                  </a:lnTo>
                  <a:cubicBezTo>
                    <a:pt x="2303336" y="1393722"/>
                    <a:pt x="2247455" y="1449602"/>
                    <a:pt x="2178876" y="1449602"/>
                  </a:cubicBezTo>
                  <a:close/>
                </a:path>
              </a:pathLst>
            </a:custGeom>
            <a:solidFill>
              <a:srgbClr val="FFBC04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28236" y="3253636"/>
            <a:ext cx="4031529" cy="10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spc="1759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8236" y="4641710"/>
            <a:ext cx="403152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COMPONENTES PCA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884844" y="2595663"/>
            <a:ext cx="4683327" cy="2947447"/>
            <a:chOff x="0" y="0"/>
            <a:chExt cx="2303335" cy="14496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03336" cy="1449602"/>
            </a:xfrm>
            <a:custGeom>
              <a:avLst/>
              <a:gdLst/>
              <a:ahLst/>
              <a:cxnLst/>
              <a:rect l="l" t="t" r="r" b="b"/>
              <a:pathLst>
                <a:path w="2303336" h="1449602">
                  <a:moveTo>
                    <a:pt x="2178875" y="1449602"/>
                  </a:moveTo>
                  <a:lnTo>
                    <a:pt x="124460" y="1449602"/>
                  </a:lnTo>
                  <a:cubicBezTo>
                    <a:pt x="55880" y="1449602"/>
                    <a:pt x="0" y="1393722"/>
                    <a:pt x="0" y="13251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78876" y="0"/>
                  </a:lnTo>
                  <a:cubicBezTo>
                    <a:pt x="2247455" y="0"/>
                    <a:pt x="2303336" y="55880"/>
                    <a:pt x="2303336" y="124460"/>
                  </a:cubicBezTo>
                  <a:lnTo>
                    <a:pt x="2303336" y="1325142"/>
                  </a:lnTo>
                  <a:cubicBezTo>
                    <a:pt x="2303336" y="1393722"/>
                    <a:pt x="2247455" y="1449602"/>
                    <a:pt x="2178876" y="1449602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210743" y="3253636"/>
            <a:ext cx="4031529" cy="10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spc="1759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95.1%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10743" y="4641710"/>
            <a:ext cx="4031529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46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VARIANZA RETENIDA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952500"/>
            <a:ext cx="14475421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 spc="101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REDUCCIÓN DE DIMENSIONALIDAD — PCA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9829" y="6135565"/>
            <a:ext cx="7546582" cy="2920573"/>
            <a:chOff x="0" y="0"/>
            <a:chExt cx="1987577" cy="7692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87577" cy="769205"/>
            </a:xfrm>
            <a:custGeom>
              <a:avLst/>
              <a:gdLst/>
              <a:ahLst/>
              <a:cxnLst/>
              <a:rect l="l" t="t" r="r" b="b"/>
              <a:pathLst>
                <a:path w="1987577" h="769205">
                  <a:moveTo>
                    <a:pt x="0" y="0"/>
                  </a:moveTo>
                  <a:lnTo>
                    <a:pt x="1987577" y="0"/>
                  </a:lnTo>
                  <a:lnTo>
                    <a:pt x="1987577" y="769205"/>
                  </a:lnTo>
                  <a:lnTo>
                    <a:pt x="0" y="76920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98757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97722" y="6384677"/>
            <a:ext cx="6968688" cy="235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509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Criterio de Selección</a:t>
            </a:r>
          </a:p>
          <a:p>
            <a:pPr algn="l">
              <a:lnSpc>
                <a:spcPts val="3814"/>
              </a:lnSpc>
            </a:pPr>
            <a:r>
              <a:rPr lang="en-US" sz="250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Umbral: 95% de varianza retenida. Equilibra reducción con preservación de información. 90% sacrifica info importante; 99% puede incluir ruido.</a:t>
            </a:r>
          </a:p>
        </p:txBody>
      </p:sp>
      <p:sp>
        <p:nvSpPr>
          <p:cNvPr id="24" name="AutoShape 24"/>
          <p:cNvSpPr/>
          <p:nvPr/>
        </p:nvSpPr>
        <p:spPr>
          <a:xfrm flipH="1" flipV="1">
            <a:off x="888566" y="6135565"/>
            <a:ext cx="0" cy="2920573"/>
          </a:xfrm>
          <a:prstGeom prst="line">
            <a:avLst/>
          </a:prstGeom>
          <a:ln w="314325" cap="flat">
            <a:solidFill>
              <a:srgbClr val="F84B2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25" name="Group 25"/>
          <p:cNvGrpSpPr/>
          <p:nvPr/>
        </p:nvGrpSpPr>
        <p:grpSpPr>
          <a:xfrm>
            <a:off x="9712718" y="6135565"/>
            <a:ext cx="7546582" cy="2920573"/>
            <a:chOff x="0" y="0"/>
            <a:chExt cx="1987577" cy="76920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87577" cy="769205"/>
            </a:xfrm>
            <a:custGeom>
              <a:avLst/>
              <a:gdLst/>
              <a:ahLst/>
              <a:cxnLst/>
              <a:rect l="l" t="t" r="r" b="b"/>
              <a:pathLst>
                <a:path w="1987577" h="769205">
                  <a:moveTo>
                    <a:pt x="0" y="0"/>
                  </a:moveTo>
                  <a:lnTo>
                    <a:pt x="1987577" y="0"/>
                  </a:lnTo>
                  <a:lnTo>
                    <a:pt x="1987577" y="769205"/>
                  </a:lnTo>
                  <a:lnTo>
                    <a:pt x="0" y="76920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987577" cy="7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273584" y="6384677"/>
            <a:ext cx="6968688" cy="235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509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Protocolo Anti Data Leakage</a:t>
            </a:r>
          </a:p>
          <a:p>
            <a:pPr algn="l">
              <a:lnSpc>
                <a:spcPts val="3814"/>
              </a:lnSpc>
            </a:pPr>
            <a:r>
              <a:rPr lang="en-US" sz="250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PCA ajustado SOLO sobre X_train (80%). Luego transformado a test (20%). Si se ajustara sobre todos los datos, habría fuga de información.</a:t>
            </a:r>
          </a:p>
        </p:txBody>
      </p:sp>
      <p:sp>
        <p:nvSpPr>
          <p:cNvPr id="29" name="AutoShape 29"/>
          <p:cNvSpPr/>
          <p:nvPr/>
        </p:nvSpPr>
        <p:spPr>
          <a:xfrm flipV="1">
            <a:off x="9881455" y="6135565"/>
            <a:ext cx="0" cy="2920573"/>
          </a:xfrm>
          <a:prstGeom prst="line">
            <a:avLst/>
          </a:prstGeom>
          <a:ln w="314325" cap="flat">
            <a:solidFill>
              <a:srgbClr val="F84B2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983" y="2151991"/>
            <a:ext cx="7628618" cy="3437626"/>
            <a:chOff x="0" y="0"/>
            <a:chExt cx="2286813" cy="1030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813" cy="1030489"/>
            </a:xfrm>
            <a:custGeom>
              <a:avLst/>
              <a:gdLst/>
              <a:ahLst/>
              <a:cxnLst/>
              <a:rect l="l" t="t" r="r" b="b"/>
              <a:pathLst>
                <a:path w="2286813" h="1030489">
                  <a:moveTo>
                    <a:pt x="0" y="0"/>
                  </a:moveTo>
                  <a:lnTo>
                    <a:pt x="2286813" y="0"/>
                  </a:lnTo>
                  <a:lnTo>
                    <a:pt x="2286813" y="1030489"/>
                  </a:lnTo>
                  <a:lnTo>
                    <a:pt x="0" y="103048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86813" cy="105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1454554" y="2151991"/>
            <a:ext cx="0" cy="3437626"/>
          </a:xfrm>
          <a:prstGeom prst="line">
            <a:avLst/>
          </a:prstGeom>
          <a:ln w="276225" cap="flat">
            <a:solidFill>
              <a:srgbClr val="0928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6" name="Group 6"/>
          <p:cNvGrpSpPr/>
          <p:nvPr/>
        </p:nvGrpSpPr>
        <p:grpSpPr>
          <a:xfrm>
            <a:off x="9113448" y="2148977"/>
            <a:ext cx="7539109" cy="839395"/>
            <a:chOff x="0" y="0"/>
            <a:chExt cx="10052145" cy="111919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4491"/>
              <a:ext cx="10052145" cy="1110210"/>
              <a:chOff x="0" y="0"/>
              <a:chExt cx="2259981" cy="2496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9981" cy="249604"/>
              </a:xfrm>
              <a:custGeom>
                <a:avLst/>
                <a:gdLst/>
                <a:ahLst/>
                <a:cxnLst/>
                <a:rect l="l" t="t" r="r" b="b"/>
                <a:pathLst>
                  <a:path w="2259981" h="249604">
                    <a:moveTo>
                      <a:pt x="0" y="0"/>
                    </a:moveTo>
                    <a:lnTo>
                      <a:pt x="2259981" y="0"/>
                    </a:lnTo>
                    <a:lnTo>
                      <a:pt x="2259981" y="249604"/>
                    </a:lnTo>
                    <a:lnTo>
                      <a:pt x="0" y="24960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2259981" cy="2781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0" name="AutoShape 10"/>
            <p:cNvSpPr/>
            <p:nvPr/>
          </p:nvSpPr>
          <p:spPr>
            <a:xfrm flipV="1">
              <a:off x="197668" y="4491"/>
              <a:ext cx="27091" cy="1110210"/>
            </a:xfrm>
            <a:prstGeom prst="line">
              <a:avLst/>
            </a:prstGeom>
            <a:ln w="368219" cap="flat">
              <a:solidFill>
                <a:srgbClr val="F84B2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13448" y="4717994"/>
            <a:ext cx="7539109" cy="839395"/>
            <a:chOff x="0" y="0"/>
            <a:chExt cx="10052145" cy="111919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4491"/>
              <a:ext cx="10052145" cy="1110210"/>
              <a:chOff x="0" y="0"/>
              <a:chExt cx="2259981" cy="24960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259981" cy="249604"/>
              </a:xfrm>
              <a:custGeom>
                <a:avLst/>
                <a:gdLst/>
                <a:ahLst/>
                <a:cxnLst/>
                <a:rect l="l" t="t" r="r" b="b"/>
                <a:pathLst>
                  <a:path w="2259981" h="249604">
                    <a:moveTo>
                      <a:pt x="0" y="0"/>
                    </a:moveTo>
                    <a:lnTo>
                      <a:pt x="2259981" y="0"/>
                    </a:lnTo>
                    <a:lnTo>
                      <a:pt x="2259981" y="249604"/>
                    </a:lnTo>
                    <a:lnTo>
                      <a:pt x="0" y="24960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2259981" cy="2781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 flipV="1">
              <a:off x="197668" y="4491"/>
              <a:ext cx="27091" cy="1110210"/>
            </a:xfrm>
            <a:prstGeom prst="line">
              <a:avLst/>
            </a:prstGeom>
            <a:ln w="368219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13448" y="3433485"/>
            <a:ext cx="7539109" cy="839395"/>
            <a:chOff x="0" y="0"/>
            <a:chExt cx="10052145" cy="111919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4491"/>
              <a:ext cx="10052145" cy="1110210"/>
              <a:chOff x="0" y="0"/>
              <a:chExt cx="2259981" cy="24960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59981" cy="249604"/>
              </a:xfrm>
              <a:custGeom>
                <a:avLst/>
                <a:gdLst/>
                <a:ahLst/>
                <a:cxnLst/>
                <a:rect l="l" t="t" r="r" b="b"/>
                <a:pathLst>
                  <a:path w="2259981" h="249604">
                    <a:moveTo>
                      <a:pt x="0" y="0"/>
                    </a:moveTo>
                    <a:lnTo>
                      <a:pt x="2259981" y="0"/>
                    </a:lnTo>
                    <a:lnTo>
                      <a:pt x="2259981" y="249604"/>
                    </a:lnTo>
                    <a:lnTo>
                      <a:pt x="0" y="24960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2259981" cy="2781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V="1">
              <a:off x="197668" y="4491"/>
              <a:ext cx="27091" cy="1110210"/>
            </a:xfrm>
            <a:prstGeom prst="line">
              <a:avLst/>
            </a:prstGeom>
            <a:ln w="368219" cap="flat">
              <a:solidFill>
                <a:srgbClr val="FFBC0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1" name="Freeform 21"/>
          <p:cNvSpPr/>
          <p:nvPr/>
        </p:nvSpPr>
        <p:spPr>
          <a:xfrm>
            <a:off x="2578561" y="5695654"/>
            <a:ext cx="5039462" cy="4375173"/>
          </a:xfrm>
          <a:custGeom>
            <a:avLst/>
            <a:gdLst/>
            <a:ahLst/>
            <a:cxnLst/>
            <a:rect l="l" t="t" r="r" b="b"/>
            <a:pathLst>
              <a:path w="5039462" h="4375173">
                <a:moveTo>
                  <a:pt x="0" y="0"/>
                </a:moveTo>
                <a:lnTo>
                  <a:pt x="5039462" y="0"/>
                </a:lnTo>
                <a:lnTo>
                  <a:pt x="5039462" y="4375172"/>
                </a:lnTo>
                <a:lnTo>
                  <a:pt x="0" y="4375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255" t="-913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2" name="TextBox 22"/>
          <p:cNvSpPr txBox="1"/>
          <p:nvPr/>
        </p:nvSpPr>
        <p:spPr>
          <a:xfrm>
            <a:off x="1028700" y="952500"/>
            <a:ext cx="17413725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 spc="101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MODELO — REGRESIÓN LOGÍSTICA MULTINOMIAL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91718" y="2380659"/>
            <a:ext cx="6659627" cy="331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Parámetros del Modelo</a:t>
            </a:r>
          </a:p>
          <a:p>
            <a:pPr algn="l">
              <a:lnSpc>
                <a:spcPts val="3351"/>
              </a:lnSpc>
            </a:pPr>
            <a:endParaRPr lang="en-US" sz="2204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solver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lbfgs</a:t>
            </a: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1.0 (regularización estándar)</a:t>
            </a: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max_iter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1000</a:t>
            </a: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class_weight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'balanced' (compensa desbalance)</a:t>
            </a: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random_state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: 42</a:t>
            </a:r>
          </a:p>
          <a:p>
            <a:pPr algn="l">
              <a:lnSpc>
                <a:spcPts val="3351"/>
              </a:lnSpc>
            </a:pPr>
            <a:endParaRPr lang="en-US" sz="2204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606221" y="2380659"/>
            <a:ext cx="6886806" cy="38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Risk        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Precisión 0.59 ·Recall 0.93 · F1 0.72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06221" y="4949675"/>
            <a:ext cx="6742237" cy="38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 Risk      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Precisión 0.88 ·Recall 1.00 · F1 0.93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6221" y="3665167"/>
            <a:ext cx="7046335" cy="38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Medium Risk 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Precisión 0.85 ·Recall 0.51 · F1 0.65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235316" y="6109838"/>
            <a:ext cx="7628618" cy="3437626"/>
            <a:chOff x="0" y="0"/>
            <a:chExt cx="2286813" cy="103048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86813" cy="1030489"/>
            </a:xfrm>
            <a:custGeom>
              <a:avLst/>
              <a:gdLst/>
              <a:ahLst/>
              <a:cxnLst/>
              <a:rect l="l" t="t" r="r" b="b"/>
              <a:pathLst>
                <a:path w="2286813" h="1030489">
                  <a:moveTo>
                    <a:pt x="0" y="0"/>
                  </a:moveTo>
                  <a:lnTo>
                    <a:pt x="2286813" y="0"/>
                  </a:lnTo>
                  <a:lnTo>
                    <a:pt x="2286813" y="1030489"/>
                  </a:lnTo>
                  <a:lnTo>
                    <a:pt x="0" y="103048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2286813" cy="105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 flipV="1">
            <a:off x="9405886" y="6109838"/>
            <a:ext cx="0" cy="3437626"/>
          </a:xfrm>
          <a:prstGeom prst="line">
            <a:avLst/>
          </a:prstGeom>
          <a:ln w="2762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Box 31"/>
          <p:cNvSpPr txBox="1"/>
          <p:nvPr/>
        </p:nvSpPr>
        <p:spPr>
          <a:xfrm>
            <a:off x="9743050" y="6355484"/>
            <a:ext cx="7120883" cy="290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Matriz de Confusión — Hallazgos Clave</a:t>
            </a:r>
          </a:p>
          <a:p>
            <a:pPr algn="l">
              <a:lnSpc>
                <a:spcPts val="3351"/>
              </a:lnSpc>
            </a:pPr>
            <a:endParaRPr lang="en-US" sz="2204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76022" lvl="1" indent="-238011" algn="l">
              <a:lnSpc>
                <a:spcPts val="3351"/>
              </a:lnSpc>
              <a:buFont typeface="Arial"/>
              <a:buChar char="•"/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 Risk: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100% correcto</a:t>
            </a:r>
          </a:p>
          <a:p>
            <a:pPr marL="476022" lvl="1" indent="-238011" algn="l">
              <a:lnSpc>
                <a:spcPts val="3351"/>
              </a:lnSpc>
              <a:buFont typeface="Arial"/>
              <a:buChar char="•"/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Risk: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93% correcto (7% → Medium)</a:t>
            </a:r>
          </a:p>
          <a:p>
            <a:pPr marL="476022" lvl="1" indent="-238011" algn="l">
              <a:lnSpc>
                <a:spcPts val="3351"/>
              </a:lnSpc>
              <a:buFont typeface="Arial"/>
              <a:buChar char="•"/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Medium Risk: </a:t>
            </a:r>
            <a:r>
              <a:rPr lang="en-US" sz="2204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51% correcto (44% → Low</a:t>
            </a: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)</a:t>
            </a:r>
          </a:p>
          <a:p>
            <a:pPr algn="l">
              <a:lnSpc>
                <a:spcPts val="3351"/>
              </a:lnSpc>
            </a:pPr>
            <a:r>
              <a:rPr lang="en-US" sz="2204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04" i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Principal error: confusión entre Low y Medium Risk</a:t>
            </a:r>
          </a:p>
          <a:p>
            <a:pPr algn="l">
              <a:lnSpc>
                <a:spcPts val="3351"/>
              </a:lnSpc>
            </a:pPr>
            <a:endParaRPr lang="en-US" sz="2204" i="1">
              <a:solidFill>
                <a:srgbClr val="092852"/>
              </a:solidFill>
              <a:latin typeface="Open Sauce Italics"/>
              <a:ea typeface="Open Sauce Italics"/>
              <a:cs typeface="Open Sauce Italics"/>
              <a:sym typeface="Open Sauce Itali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067801" y="2159177"/>
            <a:ext cx="57150" cy="72810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2351634" y="1977724"/>
            <a:ext cx="4867212" cy="5084887"/>
          </a:xfrm>
          <a:custGeom>
            <a:avLst/>
            <a:gdLst/>
            <a:ahLst/>
            <a:cxnLst/>
            <a:rect l="l" t="t" r="r" b="b"/>
            <a:pathLst>
              <a:path w="4867212" h="5084887">
                <a:moveTo>
                  <a:pt x="0" y="0"/>
                </a:moveTo>
                <a:lnTo>
                  <a:pt x="4867212" y="0"/>
                </a:lnTo>
                <a:lnTo>
                  <a:pt x="4867212" y="5084887"/>
                </a:lnTo>
                <a:lnTo>
                  <a:pt x="0" y="5084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9727102" y="2159177"/>
            <a:ext cx="7741980" cy="3803248"/>
          </a:xfrm>
          <a:custGeom>
            <a:avLst/>
            <a:gdLst/>
            <a:ahLst/>
            <a:cxnLst/>
            <a:rect l="l" t="t" r="r" b="b"/>
            <a:pathLst>
              <a:path w="7741980" h="3803248">
                <a:moveTo>
                  <a:pt x="0" y="0"/>
                </a:moveTo>
                <a:lnTo>
                  <a:pt x="7741980" y="0"/>
                </a:lnTo>
                <a:lnTo>
                  <a:pt x="7741980" y="3803248"/>
                </a:lnTo>
                <a:lnTo>
                  <a:pt x="0" y="3803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" name="Group 5"/>
          <p:cNvGrpSpPr/>
          <p:nvPr/>
        </p:nvGrpSpPr>
        <p:grpSpPr>
          <a:xfrm>
            <a:off x="440472" y="7308995"/>
            <a:ext cx="8200516" cy="576057"/>
            <a:chOff x="0" y="0"/>
            <a:chExt cx="3553258" cy="2496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53258" cy="249604"/>
            </a:xfrm>
            <a:custGeom>
              <a:avLst/>
              <a:gdLst/>
              <a:ahLst/>
              <a:cxnLst/>
              <a:rect l="l" t="t" r="r" b="b"/>
              <a:pathLst>
                <a:path w="3553258" h="249604">
                  <a:moveTo>
                    <a:pt x="0" y="0"/>
                  </a:moveTo>
                  <a:lnTo>
                    <a:pt x="3553258" y="0"/>
                  </a:lnTo>
                  <a:lnTo>
                    <a:pt x="3553258" y="249604"/>
                  </a:lnTo>
                  <a:lnTo>
                    <a:pt x="0" y="24960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553258" cy="278179"/>
            </a:xfrm>
            <a:prstGeom prst="rect">
              <a:avLst/>
            </a:prstGeom>
          </p:spPr>
          <p:txBody>
            <a:bodyPr lIns="30878" tIns="30878" rIns="30878" bIns="30878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0472" y="7308995"/>
            <a:ext cx="1223184" cy="583413"/>
            <a:chOff x="0" y="0"/>
            <a:chExt cx="322156" cy="1536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2156" cy="153656"/>
            </a:xfrm>
            <a:custGeom>
              <a:avLst/>
              <a:gdLst/>
              <a:ahLst/>
              <a:cxnLst/>
              <a:rect l="l" t="t" r="r" b="b"/>
              <a:pathLst>
                <a:path w="322156" h="153656">
                  <a:moveTo>
                    <a:pt x="0" y="0"/>
                  </a:moveTo>
                  <a:lnTo>
                    <a:pt x="322156" y="0"/>
                  </a:lnTo>
                  <a:lnTo>
                    <a:pt x="322156" y="153656"/>
                  </a:lnTo>
                  <a:lnTo>
                    <a:pt x="0" y="153656"/>
                  </a:lnTo>
                  <a:close/>
                </a:path>
              </a:pathLst>
            </a:custGeom>
            <a:solidFill>
              <a:srgbClr val="F84B25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22156" cy="18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AUC</a:t>
              </a:r>
            </a:p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0.99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0472" y="8082908"/>
            <a:ext cx="8200516" cy="576057"/>
            <a:chOff x="0" y="0"/>
            <a:chExt cx="3553258" cy="2496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3258" cy="249604"/>
            </a:xfrm>
            <a:custGeom>
              <a:avLst/>
              <a:gdLst/>
              <a:ahLst/>
              <a:cxnLst/>
              <a:rect l="l" t="t" r="r" b="b"/>
              <a:pathLst>
                <a:path w="3553258" h="249604">
                  <a:moveTo>
                    <a:pt x="0" y="0"/>
                  </a:moveTo>
                  <a:lnTo>
                    <a:pt x="3553258" y="0"/>
                  </a:lnTo>
                  <a:lnTo>
                    <a:pt x="3553258" y="249604"/>
                  </a:lnTo>
                  <a:lnTo>
                    <a:pt x="0" y="24960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553258" cy="278179"/>
            </a:xfrm>
            <a:prstGeom prst="rect">
              <a:avLst/>
            </a:prstGeom>
          </p:spPr>
          <p:txBody>
            <a:bodyPr lIns="30878" tIns="30878" rIns="30878" bIns="30878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0472" y="8082908"/>
            <a:ext cx="1223184" cy="583413"/>
            <a:chOff x="0" y="0"/>
            <a:chExt cx="322156" cy="153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2156" cy="153656"/>
            </a:xfrm>
            <a:custGeom>
              <a:avLst/>
              <a:gdLst/>
              <a:ahLst/>
              <a:cxnLst/>
              <a:rect l="l" t="t" r="r" b="b"/>
              <a:pathLst>
                <a:path w="322156" h="153656">
                  <a:moveTo>
                    <a:pt x="0" y="0"/>
                  </a:moveTo>
                  <a:lnTo>
                    <a:pt x="322156" y="0"/>
                  </a:lnTo>
                  <a:lnTo>
                    <a:pt x="322156" y="153656"/>
                  </a:lnTo>
                  <a:lnTo>
                    <a:pt x="0" y="153656"/>
                  </a:lnTo>
                  <a:close/>
                </a:path>
              </a:pathLst>
            </a:custGeom>
            <a:solidFill>
              <a:srgbClr val="6C9CC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22156" cy="18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AUC</a:t>
              </a:r>
            </a:p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0.87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472" y="8856820"/>
            <a:ext cx="8200516" cy="576057"/>
            <a:chOff x="0" y="0"/>
            <a:chExt cx="3553258" cy="2496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3258" cy="249604"/>
            </a:xfrm>
            <a:custGeom>
              <a:avLst/>
              <a:gdLst/>
              <a:ahLst/>
              <a:cxnLst/>
              <a:rect l="l" t="t" r="r" b="b"/>
              <a:pathLst>
                <a:path w="3553258" h="249604">
                  <a:moveTo>
                    <a:pt x="0" y="0"/>
                  </a:moveTo>
                  <a:lnTo>
                    <a:pt x="3553258" y="0"/>
                  </a:lnTo>
                  <a:lnTo>
                    <a:pt x="3553258" y="249604"/>
                  </a:lnTo>
                  <a:lnTo>
                    <a:pt x="0" y="24960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553258" cy="278179"/>
            </a:xfrm>
            <a:prstGeom prst="rect">
              <a:avLst/>
            </a:prstGeom>
          </p:spPr>
          <p:txBody>
            <a:bodyPr lIns="30878" tIns="30878" rIns="30878" bIns="30878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0472" y="8856820"/>
            <a:ext cx="1223184" cy="583413"/>
            <a:chOff x="0" y="0"/>
            <a:chExt cx="322156" cy="1536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2156" cy="153656"/>
            </a:xfrm>
            <a:custGeom>
              <a:avLst/>
              <a:gdLst/>
              <a:ahLst/>
              <a:cxnLst/>
              <a:rect l="l" t="t" r="r" b="b"/>
              <a:pathLst>
                <a:path w="322156" h="153656">
                  <a:moveTo>
                    <a:pt x="0" y="0"/>
                  </a:moveTo>
                  <a:lnTo>
                    <a:pt x="322156" y="0"/>
                  </a:lnTo>
                  <a:lnTo>
                    <a:pt x="322156" y="153656"/>
                  </a:lnTo>
                  <a:lnTo>
                    <a:pt x="0" y="153656"/>
                  </a:lnTo>
                  <a:close/>
                </a:path>
              </a:pathLst>
            </a:custGeom>
            <a:solidFill>
              <a:srgbClr val="FEA33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22156" cy="18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AUC</a:t>
              </a:r>
            </a:p>
            <a:p>
              <a:pPr algn="ctr">
                <a:lnSpc>
                  <a:spcPts val="1959"/>
                </a:lnSpc>
              </a:pPr>
              <a:r>
                <a:rPr lang="en-US" sz="1399" b="1" spc="384">
                  <a:solidFill>
                    <a:srgbClr val="FDFDFD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0.84</a:t>
              </a:r>
            </a:p>
          </p:txBody>
        </p:sp>
      </p:grpSp>
      <p:graphicFrame>
        <p:nvGraphicFramePr>
          <p:cNvPr id="23" name="Object 23"/>
          <p:cNvGraphicFramePr/>
          <p:nvPr/>
        </p:nvGraphicFramePr>
        <p:xfrm>
          <a:off x="10001250" y="6268234"/>
          <a:ext cx="7543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042400" imgH="4013200" progId="Excel.Sheet.12">
                  <p:embed/>
                </p:oleObj>
              </mc:Choice>
              <mc:Fallback>
                <p:oleObj name="Worksheet" r:id="rId4" imgW="9042400" imgH="4013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01250" y="6268234"/>
                        <a:ext cx="75438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CURVAS ROC / AUC Y VALIDACIÓN CRUZADA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81864" y="7487434"/>
            <a:ext cx="6414378" cy="21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2"/>
              </a:lnSpc>
            </a:pPr>
            <a:r>
              <a:rPr lang="en-US" sz="1225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 Risk   </a:t>
            </a:r>
            <a:r>
              <a:rPr lang="en-US" sz="1225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Separación perfecta. Identifica todos los empleos de alto riesgo sin error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81864" y="8261347"/>
            <a:ext cx="6414378" cy="21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2"/>
              </a:lnSpc>
            </a:pPr>
            <a:r>
              <a:rPr lang="en-US" sz="1225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Risk   </a:t>
            </a:r>
            <a:r>
              <a:rPr lang="en-US" sz="1225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Buena separación. El modelo distingue bien los perfiles de bajo riesgo.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81864" y="9035259"/>
            <a:ext cx="6770174" cy="21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2"/>
              </a:lnSpc>
            </a:pPr>
            <a:r>
              <a:rPr lang="en-US" sz="1225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Medium Risk   </a:t>
            </a:r>
            <a:r>
              <a:rPr lang="en-US" sz="1225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Más difícil por solapamiento con Low Risk. Valor 0.84 sigue siendo bueno.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39300" y="9100902"/>
            <a:ext cx="8573036" cy="28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626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sz="1626" i="1">
                <a:solidFill>
                  <a:srgbClr val="092852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esultados consistentes entre CV y Test → buena generalización (sin sobreajuste)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7023" y="2002013"/>
            <a:ext cx="8641991" cy="3932331"/>
            <a:chOff x="0" y="0"/>
            <a:chExt cx="2276080" cy="10356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62025"/>
            <a:ext cx="168026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spc="934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CONCLUSIONES DEL MODELO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9123" y="2576410"/>
            <a:ext cx="8326381" cy="30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0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y PCA:</a:t>
            </a:r>
          </a:p>
          <a:p>
            <a:pPr algn="l">
              <a:lnSpc>
                <a:spcPts val="3902"/>
              </a:lnSpc>
            </a:pPr>
            <a:endParaRPr lang="en-US" sz="3067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PCA: 29 → 14 componentes (95% info retenida)</a:t>
            </a: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Regresión Logística: </a:t>
            </a:r>
          </a:p>
          <a:p>
            <a:pPr algn="l">
              <a:lnSpc>
                <a:spcPts val="3902"/>
              </a:lnSpc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         Accuracy 73.6% | F1 0.77 | AUC 0.90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AutoShape 7"/>
          <p:cNvSpPr/>
          <p:nvPr/>
        </p:nvSpPr>
        <p:spPr>
          <a:xfrm flipV="1">
            <a:off x="694185" y="2002013"/>
            <a:ext cx="0" cy="3932331"/>
          </a:xfrm>
          <a:prstGeom prst="line">
            <a:avLst/>
          </a:prstGeom>
          <a:ln w="31432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>
            <a:off x="9469941" y="2002013"/>
            <a:ext cx="8641991" cy="3932331"/>
            <a:chOff x="0" y="0"/>
            <a:chExt cx="2276080" cy="10356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9627104" y="2002013"/>
            <a:ext cx="0" cy="3932331"/>
          </a:xfrm>
          <a:prstGeom prst="line">
            <a:avLst/>
          </a:prstGeom>
          <a:ln w="314325" cap="flat">
            <a:solidFill>
              <a:srgbClr val="FFBC0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12" name="Group 12"/>
          <p:cNvGrpSpPr/>
          <p:nvPr/>
        </p:nvGrpSpPr>
        <p:grpSpPr>
          <a:xfrm>
            <a:off x="537023" y="6251619"/>
            <a:ext cx="8641991" cy="3932331"/>
            <a:chOff x="0" y="0"/>
            <a:chExt cx="2276080" cy="10356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H="1" flipV="1">
            <a:off x="694185" y="6251619"/>
            <a:ext cx="0" cy="3932331"/>
          </a:xfrm>
          <a:prstGeom prst="line">
            <a:avLst/>
          </a:prstGeom>
          <a:ln w="3143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16" name="Group 16"/>
          <p:cNvGrpSpPr/>
          <p:nvPr/>
        </p:nvGrpSpPr>
        <p:grpSpPr>
          <a:xfrm>
            <a:off x="9469941" y="6251619"/>
            <a:ext cx="8641991" cy="3932331"/>
            <a:chOff x="0" y="0"/>
            <a:chExt cx="2276080" cy="1035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6080" cy="1035676"/>
            </a:xfrm>
            <a:custGeom>
              <a:avLst/>
              <a:gdLst/>
              <a:ahLst/>
              <a:cxnLst/>
              <a:rect l="l" t="t" r="r" b="b"/>
              <a:pathLst>
                <a:path w="2276080" h="1035676">
                  <a:moveTo>
                    <a:pt x="0" y="0"/>
                  </a:moveTo>
                  <a:lnTo>
                    <a:pt x="2276080" y="0"/>
                  </a:lnTo>
                  <a:lnTo>
                    <a:pt x="2276080" y="1035676"/>
                  </a:lnTo>
                  <a:lnTo>
                    <a:pt x="0" y="103567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276080" cy="1064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H="1" flipV="1">
            <a:off x="9627104" y="6251619"/>
            <a:ext cx="0" cy="3932331"/>
          </a:xfrm>
          <a:prstGeom prst="line">
            <a:avLst/>
          </a:prstGeom>
          <a:ln w="314325" cap="flat">
            <a:solidFill>
              <a:srgbClr val="F84B2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9891092" y="2576410"/>
            <a:ext cx="8326381" cy="30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0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Desempeño:</a:t>
            </a:r>
          </a:p>
          <a:p>
            <a:pPr algn="l">
              <a:lnSpc>
                <a:spcPts val="3902"/>
              </a:lnSpc>
            </a:pPr>
            <a:endParaRPr lang="en-US" sz="3067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Resultados consistentes → buena generalización (sin overfitting)</a:t>
            </a: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Alta precisión en High Risk (Recall = 1.00)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6972569"/>
            <a:ext cx="8326381" cy="255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0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Hallazgo clave:</a:t>
            </a:r>
          </a:p>
          <a:p>
            <a:pPr algn="l">
              <a:lnSpc>
                <a:spcPts val="3902"/>
              </a:lnSpc>
            </a:pPr>
            <a:endParaRPr lang="en-US" sz="3067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Identifica muy bien empleos más vulnerables - útil para decisiones de reentrenamiento Alta 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91092" y="6893916"/>
            <a:ext cx="8326381" cy="255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067" b="1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Limitación:</a:t>
            </a:r>
          </a:p>
          <a:p>
            <a:pPr algn="l">
              <a:lnSpc>
                <a:spcPts val="3902"/>
              </a:lnSpc>
            </a:pPr>
            <a:endParaRPr lang="en-US" sz="3067" b="1">
              <a:solidFill>
                <a:srgbClr val="09285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Confusión entre Low vs Medium Risk</a:t>
            </a:r>
          </a:p>
          <a:p>
            <a:pPr marL="554375" lvl="1" indent="-277187" algn="l">
              <a:lnSpc>
                <a:spcPts val="3902"/>
              </a:lnSpc>
              <a:buFont typeface="Arial"/>
              <a:buChar char="•"/>
            </a:pPr>
            <a:r>
              <a:rPr lang="en-US" sz="2567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Posible mejora con modelos más complejos</a:t>
            </a:r>
          </a:p>
          <a:p>
            <a:pPr algn="l">
              <a:lnSpc>
                <a:spcPts val="3902"/>
              </a:lnSpc>
            </a:pPr>
            <a:endParaRPr lang="en-US" sz="2567">
              <a:solidFill>
                <a:srgbClr val="09285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816</Words>
  <Application>Microsoft Office PowerPoint</Application>
  <PresentationFormat>Personalizado</PresentationFormat>
  <Paragraphs>113</Paragraphs>
  <Slides>10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Open Sauce Semi-Bold</vt:lpstr>
      <vt:lpstr>Calibri</vt:lpstr>
      <vt:lpstr>Open Sauce Light</vt:lpstr>
      <vt:lpstr>Arial</vt:lpstr>
      <vt:lpstr>Open Sauce Bold</vt:lpstr>
      <vt:lpstr>Open Sauce Italics</vt:lpstr>
      <vt:lpstr>Open Sauce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 de la IA en el Empleo y los Salarios</dc:title>
  <dc:creator>Carolina Tobon</dc:creator>
  <cp:lastModifiedBy>CAROLINA TOB�N BETANCUR</cp:lastModifiedBy>
  <cp:revision>2</cp:revision>
  <dcterms:created xsi:type="dcterms:W3CDTF">2006-08-16T00:00:00Z</dcterms:created>
  <dcterms:modified xsi:type="dcterms:W3CDTF">2026-05-01T17:40:17Z</dcterms:modified>
  <dc:identifier>DAHIYjd09u0</dc:identifier>
</cp:coreProperties>
</file>